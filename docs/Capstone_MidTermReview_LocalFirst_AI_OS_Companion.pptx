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We are Syed Ayaan Ahmed and Noorullah Shaik. This is our mid-term review. Our project is a local-first AI companion that helps people safely change settings on their own computer. We will report progress against our two objectives for this semester.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sections after this. Ayaan takes slides 3 to 6, Noorullah takes 7 to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green box out loud, then give one concrete example - the screen going dark while reading. Keep this to 90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are 2026 papers. Do not read the table. Say: the whole field spent this year on prediction, detection and blocking. Quote the OSGuard number - agents did something unsafe 38 percent of the time, and the best guardrail only got that to 33. Then read the green line: none of them can undo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for the innovation mark. Say the Microsoft point out loud yourself: search is not our novelty. Then read the four numbered items at the bottom - that combination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two objectives, both due this semester. For each, the four bullets are how we get there. Say the status honestly: objective one framework is done and the library is in progress; objective two has retrieval and the window built, model integration is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green box is the answer to "where is the AI". Say it before they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flowchart top to bottom in one pass. The two diamonds are the point - the system stops rather than guesses. Then the layers on the right, and finish on the green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against the two objectives, not a feature list. Objective one is essentially done - seven settings, every one reversible. Objective two has the search and the window working; the local model is next. Then the plan for the remaining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challenges, each with what we are already doing about it. Raise the last one - the Microsoft overlap - yourself rather than waiting to be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77240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  ·  SCHOOL OF 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325880"/>
            <a:ext cx="1102766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First AI Operating</a:t>
            </a:r>
            <a:endParaRPr lang="en-US" sz="48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Companion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66928" y="3063240"/>
            <a:ext cx="11027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Understand, manage and control your own computer — safely, and reversibly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3703320"/>
            <a:ext cx="7406640" cy="2057400"/>
          </a:xfrm>
          <a:prstGeom prst="roundRect">
            <a:avLst>
              <a:gd name="adj" fmla="val 2667"/>
            </a:avLst>
          </a:prstGeom>
          <a:solidFill>
            <a:srgbClr val="1F2E3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391363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420624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Ayaan Ahmed   ·   23WU0102205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Noorullah Shaik   ·   23WU0102144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5102352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5349240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Meher Gayatri Devi Tiwari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Project-I  ·  Mid-Term Review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Project-I  ·  Mid-Term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5193792" cy="749808"/>
          </a:xfrm>
          <a:prstGeom prst="roundRect">
            <a:avLst>
              <a:gd name="adj" fmla="val 7317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87452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35608" y="1874520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193792" cy="749808"/>
          </a:xfrm>
          <a:prstGeom prst="roundRect">
            <a:avLst>
              <a:gd name="adj" fmla="val 7317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87452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949440" y="1874520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66928" y="2651760"/>
            <a:ext cx="5193792" cy="749808"/>
          </a:xfrm>
          <a:prstGeom prst="roundRect">
            <a:avLst>
              <a:gd name="adj" fmla="val 7317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83464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435608" y="2834640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and Novelty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80760" y="2651760"/>
            <a:ext cx="5193792" cy="749808"/>
          </a:xfrm>
          <a:prstGeom prst="roundRect">
            <a:avLst>
              <a:gd name="adj" fmla="val 7317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83464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949440" y="2834640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66928" y="3611880"/>
            <a:ext cx="5193792" cy="749808"/>
          </a:xfrm>
          <a:prstGeom prst="roundRect">
            <a:avLst>
              <a:gd name="adj" fmla="val 7317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79476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435608" y="3794760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080760" y="3611880"/>
            <a:ext cx="5193792" cy="749808"/>
          </a:xfrm>
          <a:prstGeom prst="roundRect">
            <a:avLst>
              <a:gd name="adj" fmla="val 7317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79476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949440" y="3794760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Flowchart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66928" y="4572000"/>
            <a:ext cx="5193792" cy="749808"/>
          </a:xfrm>
          <a:prstGeom prst="roundRect">
            <a:avLst>
              <a:gd name="adj" fmla="val 7317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475488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435608" y="4754880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and Timeline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080760" y="4572000"/>
            <a:ext cx="5193792" cy="749808"/>
          </a:xfrm>
          <a:prstGeom prst="roundRect">
            <a:avLst>
              <a:gd name="adj" fmla="val 7317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475488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6949440" y="4754880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Future Scope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Project-I  ·  Mid-Term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11027664" cy="960120"/>
          </a:xfrm>
          <a:prstGeom prst="roundRect">
            <a:avLst>
              <a:gd name="adj" fmla="val 5714"/>
            </a:avLst>
          </a:prstGeom>
          <a:solidFill>
            <a:srgbClr val="E8F2EE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463040"/>
            <a:ext cx="103875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cannot safely change settings on computers they own, because nothing explains what a change will do — or guarantees it can be undone.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66928" y="2606040"/>
            <a:ext cx="2551176" cy="2194560"/>
          </a:xfrm>
          <a:prstGeom prst="roundRect">
            <a:avLst>
              <a:gd name="adj" fmla="val 2500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816352"/>
            <a:ext cx="2093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already know the name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3547872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the symptom — “my screen keeps going dark” — finds nothing.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92424" y="2606040"/>
            <a:ext cx="2551176" cy="2194560"/>
          </a:xfrm>
          <a:prstGeom prst="roundRect">
            <a:avLst>
              <a:gd name="adj" fmla="val 2500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2816352"/>
            <a:ext cx="2093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explains the effect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21024" y="3547872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name a control. They do not say what it changes or what it costs.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606040"/>
            <a:ext cx="2551176" cy="2194560"/>
          </a:xfrm>
          <a:prstGeom prst="roundRect">
            <a:avLst>
              <a:gd name="adj" fmla="val 2500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816352"/>
            <a:ext cx="2093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way back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3547872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value is not recorded, so a change cannot reliably be reversed.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43416" y="2606040"/>
            <a:ext cx="2551176" cy="2194560"/>
          </a:xfrm>
          <a:prstGeom prst="roundRect">
            <a:avLst>
              <a:gd name="adj" fmla="val 2500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72016" y="2816352"/>
            <a:ext cx="2093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act, but do not account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72016" y="3547872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OS agents perform actions without showing the operation or keeping a record.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5074920"/>
            <a:ext cx="11027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affects:  people who use their computer heavily, know something is wrong, but have no confidence to change it and nobody to ask.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Project-I  ·  Mid-Term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152144"/>
            <a:ext cx="11027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papers from 2026, all on the safety of AI agents that act on a real computer.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27664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1554480"/>
                <a:gridCol w="3520440"/>
                <a:gridCol w="3255264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/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and outcomes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OSGuard: A Benchmark for Safety in Computer-Use Agents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Mohammadmirzaei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Flanigan,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 AI agents on 45 real desktop tasks. They finished the job but did something unsafe 38% of the time. The best safety checker only cut that to 33%.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measures how often agents go wrong. It offers no way to repair the damage once it is done.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SafePred: A Predictive Guardrail for Computer-Using Agents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et al.,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Tries to predict which actions will cause trouble later, and blocks them before they run.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prediction is a guess made by another model. If it guesses wrong, the action happens and cannot be taken back.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Actions Go Off-Task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 et al.,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(ICML)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Spots actions that drift away from what the user asked for, and rewrites them before they run.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model checking another model. It is only needed because the agent writes its own actions in the first place.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Benign Inputs Lead to Severe Harms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Jones et al.,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(ICML)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agents cause harm even from completely ordinary, harmless requests. Gives 117 real examples.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Proves the danger is not just bad users. Still offers nothing to undo the harm it demonstrates.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ActPlane: OS-Level Policy Enforcement for Agent Harnesses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Zheng et al.,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Puts the safety rules inside the operating system itself, so nothing slips past. Costs under 10% speed.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block an action, but cannot reverse one it allowed. The rules must be written by an expert.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7724" marR="77724" marT="77724" marB="77724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5230368"/>
            <a:ext cx="11027664" cy="777240"/>
          </a:xfrm>
          <a:prstGeom prst="roundRect">
            <a:avLst>
              <a:gd name="adj" fmla="val 7059"/>
            </a:avLst>
          </a:prstGeom>
          <a:solidFill>
            <a:srgbClr val="E8F2EE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5349240"/>
            <a:ext cx="104424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tries to stop a mistake before it happens. Not one of them can undo a mistake after it happens. That is the gap we fill.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COMPARISON AND NOVELTY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Tools and How We Differ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Project-I  ·  Mid-Term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80160"/>
          <a:ext cx="1102766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14600"/>
                <a:gridCol w="3063240"/>
                <a:gridCol w="325526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/ 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our approach differs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Settings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browsing of settings by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 know the name of the setting. No explanation, no undo.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the setting from a description of the symptom, explains it, and can revert it.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11 Settings AI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On-device AI finds and applies settings from plain 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source, newer builds only. No universal undo and no change history.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change stores its previous value first, so one-step undo always exists.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Actions / Agent Workspace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clicks through the interface to perform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to misread UI elements. No auditable record of what it altered.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drives the GUI. Calls tested functions directly and journals every change.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Interpreter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language model writes and runs code on your machine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Asks you to approve generated code you are not equipped to judge.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 cannot write commands. You approve a tested operation in plain English.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Tweak scripts and optimisers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(WinUtil, CCleaner class)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batches of preset registry and service changes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Opaque bulk edits, little per-change explanation or reversal.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change at a time, each explained, each individually revertible.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864608"/>
            <a:ext cx="11027664" cy="1170432"/>
          </a:xfrm>
          <a:prstGeom prst="roundRect">
            <a:avLst>
              <a:gd name="adj" fmla="val 4688"/>
            </a:avLst>
          </a:prstGeom>
          <a:solidFill>
            <a:srgbClr val="E8F2EE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49743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gap, and our novelty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9536" y="5230368"/>
            <a:ext cx="10442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settings search already exists — we do not claim it. What no reviewed tool provides is all four of these together: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59536" y="5522976"/>
            <a:ext cx="24734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model can never write a command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470148" y="5522976"/>
            <a:ext cx="24734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Every change records its old value first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080760" y="5522976"/>
            <a:ext cx="24734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 complete, auditable change history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91372" y="5522976"/>
            <a:ext cx="24734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Fully offline, no account, modest hardware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for This Semester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Project-I  ·  Mid-Term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objectives, each measurable and due within the semester.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554480"/>
            <a:ext cx="5376672" cy="4160520"/>
          </a:xfrm>
          <a:prstGeom prst="roundRect">
            <a:avLst>
              <a:gd name="adj" fmla="val 1319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1907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35608" y="1700784"/>
            <a:ext cx="4233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settings library that cannot contain an irreversible action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395728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are achieving it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486460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contract: every operation declares its limits, a preview, an undo and its own explanation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 refuses to accept any state-changing tool that has no tested undo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journal writes the old value before the change is applied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 30 operations across power, display, network, privacy and storage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590288"/>
            <a:ext cx="4864608" cy="10973"/>
          </a:xfrm>
          <a:prstGeom prst="rect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681728"/>
            <a:ext cx="4864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882896"/>
            <a:ext cx="4864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operations  ·  100% with a tested undo  ·  90% test coverage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51937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Week 9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258568" y="5193792"/>
            <a:ext cx="3410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built and tested. Library in progress.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5376672" cy="4160520"/>
          </a:xfrm>
          <a:prstGeom prst="roundRect">
            <a:avLst>
              <a:gd name="adj" fmla="val 1319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171907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86600" y="1700784"/>
            <a:ext cx="4233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English mapped onto that library, in a window anyone can use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73952" y="2395728"/>
            <a:ext cx="48646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are achieving it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73952" y="2651760"/>
            <a:ext cx="486460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retrieval narrows the catalogue to about ten candidates before any model runs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model on Ollama selects one tool and fills in typed values — it never writes commands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 confidence threshold, the system offers choices instead of acting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window with a confirmation card and a history panel, usable without a terminal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73952" y="4590288"/>
            <a:ext cx="4864608" cy="10973"/>
          </a:xfrm>
          <a:prstGeom prst="rect">
            <a:avLst/>
          </a:prstGeom>
          <a:solidFill>
            <a:srgbClr val="D9E0E6"/>
          </a:solidFill>
          <a:ln w="12700">
            <a:solidFill>
              <a:srgbClr val="D9E0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4681728"/>
            <a:ext cx="4864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73952" y="4882896"/>
            <a:ext cx="4864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correct selection on 100 phrases  ·  8 GB RAM, no GPU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73952" y="51937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Week 12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909560" y="5193792"/>
            <a:ext cx="3410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and window built. Model integration next.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5870448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beyond settings — file search, environment repair, firmware explanation — is Capstone-II, not this semester.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Project-I  ·  Mid-Term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phases, ordered so the safety layer is built and tested before any AI is added.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600200"/>
            <a:ext cx="2044598" cy="2286000"/>
          </a:xfrm>
          <a:prstGeom prst="roundRect">
            <a:avLst>
              <a:gd name="adj" fmla="val 2683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755648"/>
            <a:ext cx="16788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011680"/>
            <a:ext cx="167883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2606040"/>
            <a:ext cx="167883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contract, journal, first reversible operation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3584448"/>
            <a:ext cx="16788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3–5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12694" y="1600200"/>
            <a:ext cx="2044598" cy="2286000"/>
          </a:xfrm>
          <a:prstGeom prst="roundRect">
            <a:avLst>
              <a:gd name="adj" fmla="val 2683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5574" y="1755648"/>
            <a:ext cx="16788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95574" y="2011680"/>
            <a:ext cx="167883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 library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95574" y="2606040"/>
            <a:ext cx="167883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across five setting categories, with tests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95574" y="3584448"/>
            <a:ext cx="16788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5–9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58461" y="1600200"/>
            <a:ext cx="2044598" cy="2286000"/>
          </a:xfrm>
          <a:prstGeom prst="roundRect">
            <a:avLst>
              <a:gd name="adj" fmla="val 2683"/>
            </a:avLst>
          </a:prstGeom>
          <a:solidFill>
            <a:srgbClr val="FBEEE9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41341" y="1755648"/>
            <a:ext cx="16788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41341" y="2011680"/>
            <a:ext cx="167883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model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41341" y="2606040"/>
            <a:ext cx="167883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Ollama; intent mapped to a shortlist of tools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41341" y="3584448"/>
            <a:ext cx="16788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9–11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04227" y="1600200"/>
            <a:ext cx="2044598" cy="2286000"/>
          </a:xfrm>
          <a:prstGeom prst="roundRect">
            <a:avLst>
              <a:gd name="adj" fmla="val 2683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87107" y="1755648"/>
            <a:ext cx="16788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87107" y="2011680"/>
            <a:ext cx="167883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87107" y="2606040"/>
            <a:ext cx="167883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Window, confirmation card, history and undo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87107" y="3584448"/>
            <a:ext cx="16788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11–12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549994" y="1600200"/>
            <a:ext cx="2044598" cy="2286000"/>
          </a:xfrm>
          <a:prstGeom prst="roundRect">
            <a:avLst>
              <a:gd name="adj" fmla="val 2683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32874" y="1755648"/>
            <a:ext cx="167883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732874" y="2011680"/>
            <a:ext cx="167883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32874" y="2606040"/>
            <a:ext cx="167883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revert correctness, low-spec benchmark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732874" y="3584448"/>
            <a:ext cx="167883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12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4114800"/>
            <a:ext cx="6065215" cy="1417320"/>
          </a:xfrm>
          <a:prstGeom prst="roundRect">
            <a:avLst>
              <a:gd name="adj" fmla="val 3871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42793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1248" y="4572000"/>
            <a:ext cx="55165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 ·  psutil  ·  pytest  ·  Tkinter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powercfg / PowerShell / WMI  ·  Ollama  ·  Git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Incremental, test-first development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52696" y="4114800"/>
            <a:ext cx="4741896" cy="1417320"/>
          </a:xfrm>
          <a:prstGeom prst="roundRect">
            <a:avLst>
              <a:gd name="adj" fmla="val 3871"/>
            </a:avLst>
          </a:prstGeom>
          <a:solidFill>
            <a:srgbClr val="E8F2EE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27016" y="4279392"/>
            <a:ext cx="4193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AI comes last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27016" y="4572000"/>
            <a:ext cx="41932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of operations is fully testable with no model present. Building it first means a weak local model cannot sink the project — it simply degrades to a working, menu-driven tool.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FLOWCHART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Project-I  ·  Mid-Term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4108" y="1280160"/>
            <a:ext cx="3063240" cy="411480"/>
          </a:xfrm>
          <a:prstGeom prst="roundRect">
            <a:avLst>
              <a:gd name="adj" fmla="val 11111"/>
            </a:avLst>
          </a:prstGeom>
          <a:solidFill>
            <a:srgbClr val="E8F2EE"/>
          </a:solidFill>
          <a:ln w="15875">
            <a:solidFill>
              <a:srgbClr val="1F7A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describes the problem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95728" y="1691640"/>
            <a:ext cx="0" cy="146304"/>
          </a:xfrm>
          <a:prstGeom prst="line">
            <a:avLst/>
          </a:prstGeom>
          <a:noFill/>
          <a:ln w="19050">
            <a:solidFill>
              <a:srgbClr val="8C99A6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64108" y="1837944"/>
            <a:ext cx="3063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D9E0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matching setting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95728" y="2249424"/>
            <a:ext cx="0" cy="146304"/>
          </a:xfrm>
          <a:prstGeom prst="line">
            <a:avLst/>
          </a:prstGeom>
          <a:noFill/>
          <a:ln w="19050">
            <a:solidFill>
              <a:srgbClr val="8C99A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64108" y="2395728"/>
            <a:ext cx="3063240" cy="73152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B2A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within limits?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27348" y="2761488"/>
            <a:ext cx="777240" cy="0"/>
          </a:xfrm>
          <a:prstGeom prst="line">
            <a:avLst/>
          </a:prstGeom>
          <a:noFill/>
          <a:ln w="19050">
            <a:solidFill>
              <a:srgbClr val="B4472E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073652" y="25054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01768" y="2532888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BEEE9"/>
          </a:solidFill>
          <a:ln w="15875">
            <a:solidFill>
              <a:srgbClr val="B447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Rejected. Nothing changed.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95728" y="3127248"/>
            <a:ext cx="0" cy="274320"/>
          </a:xfrm>
          <a:prstGeom prst="line">
            <a:avLst/>
          </a:prstGeom>
          <a:noFill/>
          <a:ln w="19050">
            <a:solidFill>
              <a:srgbClr val="8C99A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478024" y="31821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4108" y="3401568"/>
            <a:ext cx="3063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D9E0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exact command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395728" y="3813048"/>
            <a:ext cx="0" cy="146304"/>
          </a:xfrm>
          <a:prstGeom prst="line">
            <a:avLst/>
          </a:prstGeom>
          <a:noFill/>
          <a:ln w="19050">
            <a:solidFill>
              <a:srgbClr val="8C99A6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64108" y="3959352"/>
            <a:ext cx="3063240" cy="73152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B2A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approves?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927348" y="4325112"/>
            <a:ext cx="777240" cy="0"/>
          </a:xfrm>
          <a:prstGeom prst="line">
            <a:avLst/>
          </a:prstGeom>
          <a:noFill/>
          <a:ln w="19050">
            <a:solidFill>
              <a:srgbClr val="B4472E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073652" y="4069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01768" y="4096512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FBEEE9"/>
          </a:solidFill>
          <a:ln w="15875">
            <a:solidFill>
              <a:srgbClr val="B447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Cancelled. Nothing changed.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95728" y="4690872"/>
            <a:ext cx="0" cy="274320"/>
          </a:xfrm>
          <a:prstGeom prst="line">
            <a:avLst/>
          </a:prstGeom>
          <a:noFill/>
          <a:ln w="19050">
            <a:solidFill>
              <a:srgbClr val="8C99A6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478024" y="47457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64108" y="4965192"/>
            <a:ext cx="3063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D9E0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old value, then apply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395728" y="5376672"/>
            <a:ext cx="0" cy="146304"/>
          </a:xfrm>
          <a:prstGeom prst="line">
            <a:avLst/>
          </a:prstGeom>
          <a:noFill/>
          <a:ln w="19050">
            <a:solidFill>
              <a:srgbClr val="8C99A6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864108" y="5522976"/>
            <a:ext cx="3063240" cy="411480"/>
          </a:xfrm>
          <a:prstGeom prst="roundRect">
            <a:avLst>
              <a:gd name="adj" fmla="val 11111"/>
            </a:avLst>
          </a:prstGeom>
          <a:solidFill>
            <a:srgbClr val="E8F2EE"/>
          </a:solidFill>
          <a:ln w="15875">
            <a:solidFill>
              <a:srgbClr val="1F7A5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it — undo available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19288" y="12984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19288" y="1627632"/>
            <a:ext cx="3575304" cy="457200"/>
          </a:xfrm>
          <a:prstGeom prst="roundRect">
            <a:avLst>
              <a:gd name="adj" fmla="val 12000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47888" y="167335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806940" y="2084832"/>
            <a:ext cx="0" cy="109728"/>
          </a:xfrm>
          <a:prstGeom prst="line">
            <a:avLst/>
          </a:prstGeom>
          <a:noFill/>
          <a:ln w="15875">
            <a:solidFill>
              <a:srgbClr val="8C99A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019288" y="2194560"/>
            <a:ext cx="3575304" cy="457200"/>
          </a:xfrm>
          <a:prstGeom prst="roundRect">
            <a:avLst>
              <a:gd name="adj" fmla="val 12000"/>
            </a:avLst>
          </a:prstGeom>
          <a:solidFill>
            <a:srgbClr val="FBEEE9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22402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 (optional)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806940" y="2651760"/>
            <a:ext cx="0" cy="109728"/>
          </a:xfrm>
          <a:prstGeom prst="line">
            <a:avLst/>
          </a:prstGeom>
          <a:noFill/>
          <a:ln w="15875">
            <a:solidFill>
              <a:srgbClr val="8C99A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019288" y="2761488"/>
            <a:ext cx="3575304" cy="457200"/>
          </a:xfrm>
          <a:prstGeom prst="roundRect">
            <a:avLst>
              <a:gd name="adj" fmla="val 12000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47888" y="280720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library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806940" y="3218688"/>
            <a:ext cx="0" cy="109728"/>
          </a:xfrm>
          <a:prstGeom prst="line">
            <a:avLst/>
          </a:prstGeom>
          <a:noFill/>
          <a:ln w="15875">
            <a:solidFill>
              <a:srgbClr val="8C99A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019288" y="3328416"/>
            <a:ext cx="3575304" cy="457200"/>
          </a:xfrm>
          <a:prstGeom prst="roundRect">
            <a:avLst>
              <a:gd name="adj" fmla="val 12000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47888" y="3374136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adapter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806940" y="3785616"/>
            <a:ext cx="0" cy="109728"/>
          </a:xfrm>
          <a:prstGeom prst="line">
            <a:avLst/>
          </a:prstGeom>
          <a:noFill/>
          <a:ln w="15875">
            <a:solidFill>
              <a:srgbClr val="8C99A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019288" y="3895344"/>
            <a:ext cx="3575304" cy="457200"/>
          </a:xfrm>
          <a:prstGeom prst="roundRect">
            <a:avLst>
              <a:gd name="adj" fmla="val 12000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47888" y="394106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journal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019288" y="4498848"/>
            <a:ext cx="3575304" cy="1280160"/>
          </a:xfrm>
          <a:prstGeom prst="roundRect">
            <a:avLst>
              <a:gd name="adj" fmla="val 4286"/>
            </a:avLst>
          </a:prstGeom>
          <a:solidFill>
            <a:srgbClr val="E8F2EE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47888" y="4645152"/>
            <a:ext cx="31638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picks a tool from the library. It never writes a command.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WHERE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Against Our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Project-I  ·  Mid-Term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5376672" cy="2395728"/>
          </a:xfrm>
          <a:prstGeom prst="roundRect">
            <a:avLst>
              <a:gd name="adj" fmla="val 2290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1732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35608" y="1389888"/>
            <a:ext cx="4279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library that cannot contain an irreversible 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93852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1938528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setting declares its limits, a preview, an undo and its own explanation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2677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2267712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refuses to load a setting that has no working undo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59689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63040" y="2596896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value is written down before the change is applied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260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292608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settings working: pointer size, text size, click speed, and more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25526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3255264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across the five setting categories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261872"/>
            <a:ext cx="5376672" cy="2395728"/>
          </a:xfrm>
          <a:prstGeom prst="roundRect">
            <a:avLst>
              <a:gd name="adj" fmla="val 2290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141732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7A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086600" y="1389888"/>
            <a:ext cx="4279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English mapped onto that library, in a usable window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3952" y="193852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14032" y="1938528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a problem in your own words finds the right setting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73952" y="226771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14032" y="2267712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window with a confirmation card, history and one-step undo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73952" y="259689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14032" y="2596896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verified against Windows itself, then reverted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73952" y="29260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14032" y="292608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on Ollama selecting settings and filling in values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73952" y="325526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14032" y="3255264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unsure, offer choices instead of acting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252728" y="4800600"/>
            <a:ext cx="9656064" cy="54864"/>
          </a:xfrm>
          <a:prstGeom prst="roundRect">
            <a:avLst>
              <a:gd name="adj" fmla="val 50000"/>
            </a:avLst>
          </a:prstGeom>
          <a:solidFill>
            <a:srgbClr val="DCE3E8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45413" y="4882896"/>
            <a:ext cx="14630" cy="54864"/>
          </a:xfrm>
          <a:prstGeom prst="rect">
            <a:avLst/>
          </a:prstGeom>
          <a:solidFill>
            <a:srgbClr val="C3CDD5"/>
          </a:solidFill>
          <a:ln w="12700">
            <a:solidFill>
              <a:srgbClr val="C3CD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8408" y="4956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23237" y="4882896"/>
            <a:ext cx="14630" cy="54864"/>
          </a:xfrm>
          <a:prstGeom prst="rect">
            <a:avLst/>
          </a:prstGeom>
          <a:solidFill>
            <a:srgbClr val="C3CDD5"/>
          </a:solidFill>
          <a:ln w="12700">
            <a:solidFill>
              <a:srgbClr val="C3CD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56232" y="4956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001061" y="4882896"/>
            <a:ext cx="14630" cy="54864"/>
          </a:xfrm>
          <a:prstGeom prst="rect">
            <a:avLst/>
          </a:prstGeom>
          <a:solidFill>
            <a:srgbClr val="C3CDD5"/>
          </a:solidFill>
          <a:ln w="12700">
            <a:solidFill>
              <a:srgbClr val="C3CDD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34056" y="4956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78885" y="4882896"/>
            <a:ext cx="14630" cy="54864"/>
          </a:xfrm>
          <a:prstGeom prst="rect">
            <a:avLst/>
          </a:prstGeom>
          <a:solidFill>
            <a:srgbClr val="C3CDD5"/>
          </a:solidFill>
          <a:ln w="12700">
            <a:solidFill>
              <a:srgbClr val="C3CD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11880" y="4956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6709" y="4882896"/>
            <a:ext cx="14630" cy="54864"/>
          </a:xfrm>
          <a:prstGeom prst="rect">
            <a:avLst/>
          </a:prstGeom>
          <a:solidFill>
            <a:srgbClr val="C3CDD5"/>
          </a:solidFill>
          <a:ln w="12700">
            <a:solidFill>
              <a:srgbClr val="C3CDD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9704" y="4956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34533" y="4882896"/>
            <a:ext cx="14630" cy="54864"/>
          </a:xfrm>
          <a:prstGeom prst="rect">
            <a:avLst/>
          </a:prstGeom>
          <a:solidFill>
            <a:srgbClr val="C3CDD5"/>
          </a:solidFill>
          <a:ln w="12700">
            <a:solidFill>
              <a:srgbClr val="C3CDD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67528" y="4956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512357" y="4882896"/>
            <a:ext cx="14630" cy="54864"/>
          </a:xfrm>
          <a:prstGeom prst="rect">
            <a:avLst/>
          </a:prstGeom>
          <a:solidFill>
            <a:srgbClr val="C3CDD5"/>
          </a:solidFill>
          <a:ln w="12700">
            <a:solidFill>
              <a:srgbClr val="C3CDD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45352" y="4956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390181" y="4882896"/>
            <a:ext cx="14630" cy="54864"/>
          </a:xfrm>
          <a:prstGeom prst="rect">
            <a:avLst/>
          </a:prstGeom>
          <a:solidFill>
            <a:srgbClr val="C3CDD5"/>
          </a:solidFill>
          <a:ln w="12700">
            <a:solidFill>
              <a:srgbClr val="C3CDD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23176" y="4956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268005" y="4882896"/>
            <a:ext cx="14630" cy="54864"/>
          </a:xfrm>
          <a:prstGeom prst="rect">
            <a:avLst/>
          </a:prstGeom>
          <a:solidFill>
            <a:srgbClr val="C3CDD5"/>
          </a:solidFill>
          <a:ln w="12700">
            <a:solidFill>
              <a:srgbClr val="C3CDD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01000" y="4956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45829" y="4882896"/>
            <a:ext cx="14630" cy="54864"/>
          </a:xfrm>
          <a:prstGeom prst="rect">
            <a:avLst/>
          </a:prstGeom>
          <a:solidFill>
            <a:srgbClr val="C3CDD5"/>
          </a:solidFill>
          <a:ln w="12700">
            <a:solidFill>
              <a:srgbClr val="C3CDD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78824" y="4956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023653" y="4882896"/>
            <a:ext cx="14630" cy="54864"/>
          </a:xfrm>
          <a:prstGeom prst="rect">
            <a:avLst/>
          </a:prstGeom>
          <a:solidFill>
            <a:srgbClr val="C3CDD5"/>
          </a:solidFill>
          <a:ln w="12700">
            <a:solidFill>
              <a:srgbClr val="C3CDD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56648" y="4956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0901477" y="4882896"/>
            <a:ext cx="14630" cy="54864"/>
          </a:xfrm>
          <a:prstGeom prst="rect">
            <a:avLst/>
          </a:prstGeom>
          <a:solidFill>
            <a:srgbClr val="C3CDD5"/>
          </a:solidFill>
          <a:ln w="12700">
            <a:solidFill>
              <a:srgbClr val="C3CDD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634472" y="4956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686300" y="4750308"/>
            <a:ext cx="155448" cy="155448"/>
          </a:xfrm>
          <a:prstGeom prst="ellipse">
            <a:avLst/>
          </a:prstGeom>
          <a:solidFill>
            <a:srgbClr val="1F7A5E"/>
          </a:solidFill>
          <a:ln w="19050">
            <a:solidFill>
              <a:srgbClr val="1F7A5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54880" y="4517136"/>
            <a:ext cx="18288" cy="146304"/>
          </a:xfrm>
          <a:prstGeom prst="rect">
            <a:avLst/>
          </a:prstGeom>
          <a:solidFill>
            <a:srgbClr val="C3CDD5"/>
          </a:solidFill>
          <a:ln w="12700">
            <a:solidFill>
              <a:srgbClr val="C3CDD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00984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and audit working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9075420" y="4750308"/>
            <a:ext cx="155448" cy="155448"/>
          </a:xfrm>
          <a:prstGeom prst="ellipse">
            <a:avLst/>
          </a:prstGeom>
          <a:solidFill>
            <a:srgbClr val="1F7A5E"/>
          </a:solidFill>
          <a:ln w="19050">
            <a:solidFill>
              <a:srgbClr val="1F7A5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144000" y="5202936"/>
            <a:ext cx="18288" cy="146304"/>
          </a:xfrm>
          <a:prstGeom prst="rect">
            <a:avLst/>
          </a:prstGeom>
          <a:solidFill>
            <a:srgbClr val="C3CDD5"/>
          </a:solidFill>
          <a:ln w="12700">
            <a:solidFill>
              <a:srgbClr val="C3CDD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90104" y="5394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setting categories done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10831068" y="4750308"/>
            <a:ext cx="155448" cy="155448"/>
          </a:xfrm>
          <a:prstGeom prst="ellipse">
            <a:avLst/>
          </a:prstGeom>
          <a:solidFill>
            <a:srgbClr val="1F7A5E"/>
          </a:solidFill>
          <a:ln w="19050">
            <a:solidFill>
              <a:srgbClr val="1F7A5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899648" y="4517136"/>
            <a:ext cx="18288" cy="146304"/>
          </a:xfrm>
          <a:prstGeom prst="rect">
            <a:avLst/>
          </a:prstGeom>
          <a:solidFill>
            <a:srgbClr val="C3CDD5"/>
          </a:solidFill>
          <a:ln w="12700">
            <a:solidFill>
              <a:srgbClr val="C3CDD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668512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window complete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CHALLENGES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2766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Project-I  ·  Mid-Term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4672" y="1188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721608" y="11887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882128" y="1188720"/>
            <a:ext cx="3483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handle 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1463040"/>
            <a:ext cx="11027664" cy="1005840"/>
          </a:xfrm>
          <a:prstGeom prst="roundRect">
            <a:avLst>
              <a:gd name="adj" fmla="val 5455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591056"/>
            <a:ext cx="2697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models may pick the wrong setting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21608" y="1591056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1-3B model running on a cheap laptop may not reliably map a sentence to the right setting as the library grows.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82128" y="1591056"/>
            <a:ext cx="34838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retrieval narrows the list to about ten before the model sees it. Below a confidence threshold it offers choices instead of acting.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596896"/>
            <a:ext cx="11027664" cy="1005840"/>
          </a:xfrm>
          <a:prstGeom prst="roundRect">
            <a:avLst>
              <a:gd name="adj" fmla="val 5455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724912"/>
            <a:ext cx="2697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speaks other languages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21608" y="2724912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command output is translated, so reading English labels fails on a non-English installation.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82128" y="2724912"/>
            <a:ext cx="34838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positional fallback is implemented and tested. Moving to typed WMI values removes the problem entirely.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730752"/>
            <a:ext cx="11027664" cy="1005840"/>
          </a:xfrm>
          <a:prstGeom prst="roundRect">
            <a:avLst>
              <a:gd name="adj" fmla="val 5455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858768"/>
            <a:ext cx="2697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settings need administrator rights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721608" y="3858768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for elevation repeatedly teaches people to approve without reading — the opposite of what we want.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882128" y="3858768"/>
            <a:ext cx="34838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setting we have chosen so far is per-user and needs no elevation. Where it is unavoidable, explain why and ask once.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864608"/>
            <a:ext cx="11027664" cy="1005840"/>
          </a:xfrm>
          <a:prstGeom prst="roundRect">
            <a:avLst>
              <a:gd name="adj" fmla="val 5455"/>
            </a:avLst>
          </a:prstGeom>
          <a:solidFill>
            <a:srgbClr val="F1F4F7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992624"/>
            <a:ext cx="2697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B44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 already does part of this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721608" y="4992624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now ships an on-device AI agent that finds and applies settings from plain language.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882128" y="4992624"/>
            <a:ext cx="348386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claim that part. We compete on guaranteed undo, a complete audit trail, and running offline with no account.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First AI Operating System Companion</dc:title>
  <dc:subject>PptxGenJS Presentation</dc:subject>
  <dc:creator>Syed Ayaan Ahmed, Noorullah Shaik</dc:creator>
  <cp:lastModifiedBy>Syed Ayaan Ahmed, Noorullah Shaik</cp:lastModifiedBy>
  <cp:revision>1</cp:revision>
  <dcterms:created xsi:type="dcterms:W3CDTF">2026-08-27T04:10:39Z</dcterms:created>
  <dcterms:modified xsi:type="dcterms:W3CDTF">2026-08-27T04:10:39Z</dcterms:modified>
</cp:coreProperties>
</file>